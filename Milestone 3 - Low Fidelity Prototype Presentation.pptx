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19c079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b19c079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19c079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b19c07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19c079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19c079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19c0790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b19c079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19c0790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b19c079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19c0790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19c0790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19c0790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b19c0790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19c079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b19c079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b19c0790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b19c079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19c0790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b19c0790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2577263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b2577263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19c0790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b19c0790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b19c0790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b19c0790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19c0790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19c0790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b19c07908_3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b19c07908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b19c0790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b19c0790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b19c0790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b19c0790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b19c0790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b19c0790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b19c0790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b19c0790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b2577263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b2577263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b19c079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b19c079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b2577263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b2577263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b19c0790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b19c0790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b19c07908_3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b19c07908_3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b2577263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b2577263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b2577263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b2577263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b2577263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b2577263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b257726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9b257726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b19c0790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b19c0790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b2577263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9b2577263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b2577263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b2577263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b2577263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b2577263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b2577263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9b2577263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b19c0790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9b19c0790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b19c079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9b19c079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b19c0790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b19c0790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b19c0790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9b19c0790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b2577263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b2577263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95475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450" lIns="82900" spcFirstLastPara="1" rIns="82900" wrap="square" tIns="41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658815" y="832395"/>
            <a:ext cx="7769100" cy="3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l">
              <a:lnSpc>
                <a:spcPct val="12862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 Rounded"/>
              <a:buChar char="•"/>
              <a:defRPr b="1" sz="2200"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23850" lvl="1" marL="914400" algn="l">
              <a:lnSpc>
                <a:spcPct val="1213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 Rounded"/>
              <a:buChar char="•"/>
              <a:defRPr b="1" sz="1800"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04800" lvl="2" marL="1371600" algn="l">
              <a:lnSpc>
                <a:spcPct val="137812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Rounded"/>
              <a:buChar char="•"/>
              <a:defRPr b="1" sz="1500"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04800" lvl="3" marL="1828800" algn="l">
              <a:lnSpc>
                <a:spcPct val="124062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Rounded"/>
              <a:buChar char="•"/>
              <a:defRPr b="1" sz="1500"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292100" lvl="4" marL="2286000" algn="l">
              <a:lnSpc>
                <a:spcPct val="126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 Rounded"/>
              <a:buChar char="•"/>
              <a:defRPr b="1" sz="1300"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11150" lvl="5" marL="2743200"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8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4"/>
          <p:cNvCxnSpPr/>
          <p:nvPr/>
        </p:nvCxnSpPr>
        <p:spPr>
          <a:xfrm flipH="1" rot="10800000">
            <a:off x="4567238" y="1161976"/>
            <a:ext cx="12600" cy="3210000"/>
          </a:xfrm>
          <a:prstGeom prst="straightConnector1">
            <a:avLst/>
          </a:prstGeom>
          <a:noFill/>
          <a:ln cap="flat" cmpd="sng" w="8650">
            <a:solidFill>
              <a:srgbClr val="5D606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4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77333" y="1122762"/>
            <a:ext cx="3789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b="1" sz="2400"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30200" lvl="1" marL="91440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b="1" sz="2000"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17500" lvl="2" marL="1371600" algn="l">
              <a:lnSpc>
                <a:spcPct val="111083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b="1" sz="1800"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11150" lvl="3" marL="182880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sz="1600"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298450" lvl="4" marL="228600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b="1" sz="1400"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17500" lvl="5" marL="2743200" algn="l">
              <a:lnSpc>
                <a:spcPct val="88866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707467" y="1122762"/>
            <a:ext cx="3789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b="1" sz="2400"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30200" lvl="1" marL="91440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b="1" sz="2000"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17500" lvl="2" marL="1371600" algn="l">
              <a:lnSpc>
                <a:spcPct val="111083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b="1" sz="1800"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11150" lvl="3" marL="182880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sz="1600"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298450" lvl="4" marL="228600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b="1" sz="1400"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17500" lvl="5" marL="2743200" algn="l">
              <a:lnSpc>
                <a:spcPct val="88866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Left + Text Right">
  <p:cSld name="Chart Left + Text Righ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 flipH="1" rot="10800000">
            <a:off x="4567238" y="1161976"/>
            <a:ext cx="12600" cy="3210000"/>
          </a:xfrm>
          <a:prstGeom prst="straightConnector1">
            <a:avLst/>
          </a:prstGeom>
          <a:noFill/>
          <a:ln cap="flat" cmpd="sng" w="8650">
            <a:solidFill>
              <a:srgbClr val="5D606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7" name="Google Shape;27;p5"/>
          <p:cNvSpPr/>
          <p:nvPr>
            <p:ph idx="2" type="chart"/>
          </p:nvPr>
        </p:nvSpPr>
        <p:spPr>
          <a:xfrm>
            <a:off x="677337" y="1123952"/>
            <a:ext cx="37803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b="1" i="0" sz="2400" u="none" cap="none" strike="noStrike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marR="0" rtl="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b="1" i="0" sz="2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lvl="2" marR="0" rtl="0" algn="l">
              <a:lnSpc>
                <a:spcPct val="1225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i="0" sz="16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lvl="3" marR="0" rtl="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i="0" sz="16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lvl="4" marR="0" rtl="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b="1" i="0" sz="14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lvl="5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4248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683128" y="1122762"/>
            <a:ext cx="38085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b="1" sz="2400"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49250" lvl="1" marL="914400" algn="l">
              <a:lnSpc>
                <a:spcPct val="91685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 Rounded"/>
              <a:buChar char="•"/>
              <a:defRPr b="1" sz="2400"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302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 Rounded"/>
              <a:buChar char="•"/>
              <a:defRPr b="1" sz="2000"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b="1" sz="1800"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317500" lvl="4" marL="22860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b="1" sz="1800"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317500" lvl="5" marL="27432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+ Picture Right">
  <p:cSld name="Text Left + Picture Righ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2" name="Google Shape;32;p6"/>
          <p:cNvSpPr/>
          <p:nvPr>
            <p:ph idx="2" type="pic"/>
          </p:nvPr>
        </p:nvSpPr>
        <p:spPr>
          <a:xfrm>
            <a:off x="4568640" y="1122762"/>
            <a:ext cx="4575300" cy="3382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77333" y="1122762"/>
            <a:ext cx="3789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sz="2400"/>
            </a:lvl1pPr>
            <a:lvl2pPr indent="-330200" lvl="1" marL="91440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sz="2000"/>
            </a:lvl2pPr>
            <a:lvl3pPr indent="-317500" lvl="2" marL="1371600" algn="l">
              <a:lnSpc>
                <a:spcPct val="111083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sz="1800"/>
            </a:lvl3pPr>
            <a:lvl4pPr indent="-311150" lvl="3" marL="182880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sz="1600"/>
            </a:lvl4pPr>
            <a:lvl5pPr indent="-298450" lvl="4" marL="228600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sz="1400"/>
            </a:lvl5pPr>
            <a:lvl6pPr indent="-317500" lvl="5" marL="2743200" algn="l">
              <a:lnSpc>
                <a:spcPct val="88866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2587" y="85724"/>
            <a:ext cx="82695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7"/>
          <p:cNvSpPr/>
          <p:nvPr>
            <p:ph idx="2" type="pic"/>
          </p:nvPr>
        </p:nvSpPr>
        <p:spPr>
          <a:xfrm>
            <a:off x="0" y="1122762"/>
            <a:ext cx="4575300" cy="3382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92133" y="1122762"/>
            <a:ext cx="3789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sz="2400"/>
            </a:lvl1pPr>
            <a:lvl2pPr indent="-330200" lvl="1" marL="91440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sz="2000"/>
            </a:lvl2pPr>
            <a:lvl3pPr indent="-317500" lvl="2" marL="1371600" algn="l">
              <a:lnSpc>
                <a:spcPct val="111083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sz="1800"/>
            </a:lvl3pPr>
            <a:lvl4pPr indent="-311150" lvl="3" marL="182880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sz="1600"/>
            </a:lvl4pPr>
            <a:lvl5pPr indent="-298450" lvl="4" marL="228600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sz="1400"/>
            </a:lvl5pPr>
            <a:lvl6pPr indent="-317500" lvl="5" marL="2743200" algn="l">
              <a:lnSpc>
                <a:spcPct val="88866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+ Picture Right INSET">
  <p:cSld name="Text Left + Picture Right INSE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2" name="Google Shape;42;p8"/>
          <p:cNvSpPr/>
          <p:nvPr>
            <p:ph idx="2" type="pic"/>
          </p:nvPr>
        </p:nvSpPr>
        <p:spPr>
          <a:xfrm>
            <a:off x="4574018" y="1122762"/>
            <a:ext cx="3884100" cy="3344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677333" y="1122762"/>
            <a:ext cx="3789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sz="2400"/>
            </a:lvl1pPr>
            <a:lvl2pPr indent="-330200" lvl="1" marL="91440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sz="2000"/>
            </a:lvl2pPr>
            <a:lvl3pPr indent="-317500" lvl="2" marL="1371600" algn="l">
              <a:lnSpc>
                <a:spcPct val="111083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 Rounded"/>
              <a:buChar char="•"/>
              <a:defRPr sz="1800"/>
            </a:lvl3pPr>
            <a:lvl4pPr indent="-311150" lvl="3" marL="182880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sz="1600"/>
            </a:lvl4pPr>
            <a:lvl5pPr indent="-298450" lvl="4" marL="228600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sz="1400"/>
            </a:lvl5pPr>
            <a:lvl6pPr indent="-317500" lvl="5" marL="2743200" algn="l">
              <a:lnSpc>
                <a:spcPct val="88866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6pPr>
            <a:lvl7pPr indent="-317500" lvl="6" marL="32004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7pPr>
            <a:lvl8pPr indent="-317500" lvl="7" marL="3657600" algn="l">
              <a:lnSpc>
                <a:spcPct val="88866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8pPr>
            <a:lvl9pPr indent="-317500" lvl="8" marL="4114800" algn="l">
              <a:lnSpc>
                <a:spcPct val="88866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400"/>
              <a:buFont typeface="Arial"/>
              <a:buChar char="•"/>
              <a:defRPr sz="1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Full Bleed">
  <p:cSld name="Picture Full Bleed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>
            <p:ph idx="2" type="pic"/>
          </p:nvPr>
        </p:nvSpPr>
        <p:spPr>
          <a:xfrm>
            <a:off x="0" y="390525"/>
            <a:ext cx="91440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684213" y="4114801"/>
            <a:ext cx="7769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0" y="771525"/>
            <a:ext cx="9144000" cy="32607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 sz="2500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">
  <p:cSld name="General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/>
        </p:nvSpPr>
        <p:spPr>
          <a:xfrm>
            <a:off x="8343321" y="857250"/>
            <a:ext cx="1674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450" lIns="82900" spcFirstLastPara="1" rIns="82900" wrap="square" tIns="41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icture">
  <p:cSld name="title and pictur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57175" y="841375"/>
            <a:ext cx="8769300" cy="3619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7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4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7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4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58815" y="52247"/>
            <a:ext cx="77691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1" i="0" sz="25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58815" y="832395"/>
            <a:ext cx="7769100" cy="3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 Rounded"/>
              <a:buChar char="•"/>
              <a:defRPr b="1" i="0" sz="2400" u="none" cap="none" strike="noStrike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indent="-330200" lvl="1" marL="914400" marR="0" rtl="0" algn="l">
              <a:lnSpc>
                <a:spcPct val="110022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Char char="•"/>
              <a:defRPr b="1" i="0" sz="2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indent="-311150" lvl="2" marL="1371600" marR="0" rtl="0" algn="l">
              <a:lnSpc>
                <a:spcPct val="1225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i="0" sz="16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indent="-311150" lvl="3" marL="1828800" marR="0" rtl="0" algn="l">
              <a:lnSpc>
                <a:spcPct val="11252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 Rounded"/>
              <a:buChar char="•"/>
              <a:defRPr b="1" i="0" sz="16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indent="-298450" lvl="4" marL="2286000" marR="0" rtl="0" algn="l">
              <a:lnSpc>
                <a:spcPct val="114248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 Rounded"/>
              <a:buChar char="•"/>
              <a:defRPr b="1" i="0" sz="14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indent="-298450" lvl="5" marL="2743200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1424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14248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197725" y="4912519"/>
            <a:ext cx="182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4505326"/>
            <a:ext cx="9144000" cy="44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1450" lIns="82900" spcFirstLastPara="1" rIns="82900" wrap="square" tIns="414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  <p:sp>
        <p:nvSpPr>
          <p:cNvPr id="10" name="Google Shape;10;p1"/>
          <p:cNvSpPr/>
          <p:nvPr/>
        </p:nvSpPr>
        <p:spPr>
          <a:xfrm>
            <a:off x="0" y="715569"/>
            <a:ext cx="9144000" cy="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1450" lIns="82900" spcFirstLastPara="1" rIns="82900" wrap="square" tIns="414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3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Fidelity Prototype Presentation</a:t>
            </a:r>
            <a:endParaRPr/>
          </a:p>
        </p:txBody>
      </p:sp>
      <p:sp>
        <p:nvSpPr>
          <p:cNvPr id="81" name="Google Shape;8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Haley, Jackson, and Munshi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Norman’s 7 Principles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3175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knowledge in the world and knowledge in the head</a:t>
            </a:r>
            <a:endParaRPr/>
          </a:p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345575" y="885200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33350" lvl="0" marL="1778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700"/>
              <a:buChar char="•"/>
            </a:pPr>
            <a:r>
              <a:rPr lang="en" sz="1700">
                <a:solidFill>
                  <a:srgbClr val="980000"/>
                </a:solidFill>
              </a:rPr>
              <a:t>Knowledge in the world</a:t>
            </a:r>
            <a:endParaRPr sz="1700">
              <a:solidFill>
                <a:srgbClr val="980000"/>
              </a:solidFill>
            </a:endParaRPr>
          </a:p>
          <a:p>
            <a:pPr indent="-107950" lvl="1" marL="508000" rtl="0" algn="l">
              <a:spcBef>
                <a:spcPts val="2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Calling and text features grouped together</a:t>
            </a:r>
            <a:endParaRPr sz="1500"/>
          </a:p>
          <a:p>
            <a:pPr indent="-107950" lvl="1" marL="508000" rtl="0" algn="l">
              <a:spcBef>
                <a:spcPts val="6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Clear indicators of who is reaching out when</a:t>
            </a:r>
            <a:endParaRPr sz="1500"/>
          </a:p>
          <a:p>
            <a:pPr indent="-107950" lvl="1" marL="508000" rtl="0" algn="l">
              <a:spcBef>
                <a:spcPts val="6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Easy to follow and understand format</a:t>
            </a:r>
            <a:endParaRPr sz="1500"/>
          </a:p>
          <a:p>
            <a:pPr indent="-133350" lvl="0" marL="177800" rtl="0" algn="l">
              <a:spcBef>
                <a:spcPts val="600"/>
              </a:spcBef>
              <a:spcAft>
                <a:spcPts val="0"/>
              </a:spcAft>
              <a:buClr>
                <a:srgbClr val="980000"/>
              </a:buClr>
              <a:buSzPts val="1700"/>
              <a:buChar char="•"/>
            </a:pPr>
            <a:r>
              <a:rPr lang="en" sz="1700">
                <a:solidFill>
                  <a:srgbClr val="980000"/>
                </a:solidFill>
              </a:rPr>
              <a:t>Knowledge in the head</a:t>
            </a:r>
            <a:endParaRPr sz="1700">
              <a:solidFill>
                <a:srgbClr val="980000"/>
              </a:solidFill>
            </a:endParaRPr>
          </a:p>
          <a:p>
            <a:pPr indent="-107950" lvl="1" marL="508000" rtl="0" algn="l">
              <a:spcBef>
                <a:spcPts val="700"/>
              </a:spcBef>
              <a:spcAft>
                <a:spcPts val="600"/>
              </a:spcAft>
              <a:buSzPts val="1500"/>
              <a:buChar char="•"/>
            </a:pPr>
            <a:r>
              <a:rPr lang="en" sz="1500"/>
              <a:t>Behaves in a similar way to other messenger platforms so that the user understands how to interact with our app based on their previous experience</a:t>
            </a:r>
            <a:endParaRPr sz="1900"/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571" y="885208"/>
            <a:ext cx="1696525" cy="35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241905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Simplify task structures</a:t>
            </a:r>
            <a:endParaRPr/>
          </a:p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8475" y="863550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To create an account on our platform is a </a:t>
            </a:r>
            <a:r>
              <a:rPr lang="en" sz="1900">
                <a:solidFill>
                  <a:srgbClr val="980000"/>
                </a:solidFill>
              </a:rPr>
              <a:t>simple two step</a:t>
            </a:r>
            <a:r>
              <a:rPr lang="en" sz="1900"/>
              <a:t> process.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 It </a:t>
            </a:r>
            <a:r>
              <a:rPr lang="en" sz="1900">
                <a:solidFill>
                  <a:srgbClr val="980000"/>
                </a:solidFill>
              </a:rPr>
              <a:t>guides the user</a:t>
            </a:r>
            <a:r>
              <a:rPr lang="en" sz="1900"/>
              <a:t> step by step on what they need to do.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It provides helpful guidance like a calendar drop down to make questions that much </a:t>
            </a:r>
            <a:r>
              <a:rPr lang="en" sz="1900">
                <a:solidFill>
                  <a:srgbClr val="980000"/>
                </a:solidFill>
              </a:rPr>
              <a:t>easier to understand and answer</a:t>
            </a:r>
            <a:endParaRPr sz="1900"/>
          </a:p>
        </p:txBody>
      </p:sp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425" y="798475"/>
            <a:ext cx="1917039" cy="412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189" y="798475"/>
            <a:ext cx="1917039" cy="412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things visible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3999900" cy="26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Our post creation </a:t>
            </a:r>
            <a:r>
              <a:rPr lang="en" sz="1900">
                <a:solidFill>
                  <a:srgbClr val="980000"/>
                </a:solidFill>
              </a:rPr>
              <a:t>makes it very clear what options you have </a:t>
            </a:r>
            <a:r>
              <a:rPr lang="en" sz="1900">
                <a:solidFill>
                  <a:srgbClr val="6AA84F"/>
                </a:solidFill>
              </a:rPr>
              <a:t>available</a:t>
            </a:r>
            <a:r>
              <a:rPr lang="en" sz="1900">
                <a:solidFill>
                  <a:srgbClr val="980000"/>
                </a:solidFill>
              </a:rPr>
              <a:t> to you</a:t>
            </a:r>
            <a:r>
              <a:rPr lang="en" sz="1900"/>
              <a:t>.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Every option is clearly labeled so it is </a:t>
            </a:r>
            <a:r>
              <a:rPr lang="en" sz="1900">
                <a:solidFill>
                  <a:srgbClr val="980000"/>
                </a:solidFill>
              </a:rPr>
              <a:t>easy to use</a:t>
            </a:r>
            <a:r>
              <a:rPr lang="en" sz="1900"/>
              <a:t> and </a:t>
            </a:r>
            <a:r>
              <a:rPr lang="en" sz="1900">
                <a:solidFill>
                  <a:srgbClr val="980000"/>
                </a:solidFill>
              </a:rPr>
              <a:t>intuitive</a:t>
            </a:r>
            <a:endParaRPr sz="2100">
              <a:solidFill>
                <a:srgbClr val="980000"/>
              </a:solidFill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775" y="846375"/>
            <a:ext cx="1917913" cy="41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mapping right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Our chat function is very similar to what a user is used to using, so it </a:t>
            </a:r>
            <a:r>
              <a:rPr lang="en" sz="1600">
                <a:solidFill>
                  <a:srgbClr val="980000"/>
                </a:solidFill>
              </a:rPr>
              <a:t>matches their mental model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It’s clear what their options are so they are able to </a:t>
            </a:r>
            <a:r>
              <a:rPr lang="en" sz="1600">
                <a:solidFill>
                  <a:srgbClr val="980000"/>
                </a:solidFill>
              </a:rPr>
              <a:t>know what to do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Their </a:t>
            </a:r>
            <a:r>
              <a:rPr lang="en" sz="1600">
                <a:solidFill>
                  <a:srgbClr val="980000"/>
                </a:solidFill>
              </a:rPr>
              <a:t>intentions here are to communicate</a:t>
            </a:r>
            <a:r>
              <a:rPr lang="en" sz="1600"/>
              <a:t> with their friends and we have tried to make that as easy as possible for them.</a:t>
            </a:r>
            <a:endParaRPr sz="1600"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5025" y="824200"/>
            <a:ext cx="2018400" cy="41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constraints into advantages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39999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Reduce user choices so only </a:t>
            </a:r>
            <a:r>
              <a:rPr lang="en" sz="1900">
                <a:solidFill>
                  <a:srgbClr val="6AA84F"/>
                </a:solidFill>
              </a:rPr>
              <a:t>the correct one</a:t>
            </a:r>
            <a:r>
              <a:rPr lang="en" sz="1900"/>
              <a:t> remains.</a:t>
            </a:r>
            <a:endParaRPr sz="1900"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750" y="885750"/>
            <a:ext cx="1933014" cy="41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7925" y="885750"/>
            <a:ext cx="1918742" cy="412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/>
          <p:nvPr/>
        </p:nvSpPr>
        <p:spPr>
          <a:xfrm>
            <a:off x="1581150" y="2076450"/>
            <a:ext cx="2863800" cy="1282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Users are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only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able to provide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email or password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in the login screen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1943100" y="3467100"/>
            <a:ext cx="2863800" cy="1282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Setting up new password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during forgot password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26" name="Google Shape;126;p24"/>
          <p:cNvCxnSpPr>
            <a:stCxn id="124" idx="3"/>
          </p:cNvCxnSpPr>
          <p:nvPr/>
        </p:nvCxnSpPr>
        <p:spPr>
          <a:xfrm>
            <a:off x="4444950" y="2717850"/>
            <a:ext cx="736800" cy="234900"/>
          </a:xfrm>
          <a:prstGeom prst="straightConnector1">
            <a:avLst/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4"/>
          <p:cNvSpPr/>
          <p:nvPr/>
        </p:nvSpPr>
        <p:spPr>
          <a:xfrm>
            <a:off x="7188000" y="1974850"/>
            <a:ext cx="1638600" cy="885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5175150" y="2505000"/>
            <a:ext cx="1638600" cy="885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29" name="Google Shape;129;p24"/>
          <p:cNvCxnSpPr>
            <a:endCxn id="127" idx="2"/>
          </p:cNvCxnSpPr>
          <p:nvPr/>
        </p:nvCxnSpPr>
        <p:spPr>
          <a:xfrm flipH="1" rot="10800000">
            <a:off x="4953000" y="2860750"/>
            <a:ext cx="3054300" cy="1482600"/>
          </a:xfrm>
          <a:prstGeom prst="curvedConnector2">
            <a:avLst/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error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3999900" cy="16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D</a:t>
            </a:r>
            <a:r>
              <a:rPr lang="en" sz="1900"/>
              <a:t>esigns </a:t>
            </a:r>
            <a:r>
              <a:rPr lang="en" sz="1900">
                <a:solidFill>
                  <a:srgbClr val="980000"/>
                </a:solidFill>
              </a:rPr>
              <a:t>must allow</a:t>
            </a:r>
            <a:r>
              <a:rPr lang="en" sz="1900"/>
              <a:t> recovery, undo, or confirmation</a:t>
            </a:r>
            <a:endParaRPr sz="1900"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850" y="861400"/>
            <a:ext cx="1922207" cy="411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500" y="899500"/>
            <a:ext cx="193366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/>
          <p:nvPr/>
        </p:nvSpPr>
        <p:spPr>
          <a:xfrm>
            <a:off x="831850" y="2413075"/>
            <a:ext cx="3143400" cy="14859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Undo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‘Add Marker’ while modifying picture or video for updates and sending it to others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6369050" y="123190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8407400" y="118745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41" name="Google Shape;141;p25"/>
          <p:cNvCxnSpPr>
            <a:stCxn id="138" idx="3"/>
            <a:endCxn id="139" idx="1"/>
          </p:cNvCxnSpPr>
          <p:nvPr/>
        </p:nvCxnSpPr>
        <p:spPr>
          <a:xfrm flipH="1" rot="10800000">
            <a:off x="3975250" y="1359025"/>
            <a:ext cx="2393700" cy="1797000"/>
          </a:xfrm>
          <a:prstGeom prst="curvedConnector3">
            <a:avLst>
              <a:gd fmla="val 50002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5"/>
          <p:cNvCxnSpPr>
            <a:stCxn id="138" idx="3"/>
            <a:endCxn id="140" idx="1"/>
          </p:cNvCxnSpPr>
          <p:nvPr/>
        </p:nvCxnSpPr>
        <p:spPr>
          <a:xfrm flipH="1" rot="10800000">
            <a:off x="3975250" y="1314625"/>
            <a:ext cx="4432200" cy="18414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all else fails - Standardize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04925" y="942400"/>
            <a:ext cx="44523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This feature is </a:t>
            </a:r>
            <a:r>
              <a:rPr lang="en" sz="1600">
                <a:solidFill>
                  <a:srgbClr val="980000"/>
                </a:solidFill>
              </a:rPr>
              <a:t>something new</a:t>
            </a:r>
            <a:r>
              <a:rPr lang="en" sz="1600"/>
              <a:t> in our design, so it is not as intuitive as our other designs.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So, we have done </a:t>
            </a:r>
            <a:r>
              <a:rPr lang="en" sz="1600">
                <a:solidFill>
                  <a:srgbClr val="980000"/>
                </a:solidFill>
              </a:rPr>
              <a:t>our best</a:t>
            </a:r>
            <a:r>
              <a:rPr lang="en" sz="1600"/>
              <a:t> to make it easy for the user to find and learn to use.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This feature is </a:t>
            </a:r>
            <a:r>
              <a:rPr lang="en" sz="1600">
                <a:solidFill>
                  <a:srgbClr val="6AA84F"/>
                </a:solidFill>
              </a:rPr>
              <a:t>easy to find in the three dots in the top corner of a post</a:t>
            </a:r>
            <a:r>
              <a:rPr lang="en" sz="1600"/>
              <a:t>, where you would usually find more </a:t>
            </a:r>
            <a:r>
              <a:rPr lang="en" sz="1600"/>
              <a:t>information and interactions.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In addition, we have made its design </a:t>
            </a:r>
            <a:r>
              <a:rPr lang="en" sz="1600">
                <a:solidFill>
                  <a:srgbClr val="980000"/>
                </a:solidFill>
              </a:rPr>
              <a:t>standard</a:t>
            </a:r>
            <a:r>
              <a:rPr lang="en" sz="1600"/>
              <a:t> to the rest of our app.</a:t>
            </a:r>
            <a:endParaRPr sz="1600"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9350" y="866700"/>
            <a:ext cx="1878440" cy="4124401"/>
          </a:xfrm>
          <a:prstGeom prst="rect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Shneiderman’s 8 Golden Rules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Golden Rules of Interface Design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342900" y="1600200"/>
            <a:ext cx="8303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These principles are meant to make an interface </a:t>
            </a:r>
            <a:r>
              <a:rPr lang="en" sz="23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consistent, inclusive</a:t>
            </a:r>
            <a:r>
              <a:rPr lang="en" sz="23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and </a:t>
            </a:r>
            <a:r>
              <a:rPr lang="en" sz="23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predictable</a:t>
            </a:r>
            <a:r>
              <a:rPr lang="en" sz="23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so that users can interact confidently</a:t>
            </a:r>
            <a:endParaRPr sz="23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038" y="806725"/>
            <a:ext cx="4603261" cy="411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Strive for consistency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0" y="1133875"/>
            <a:ext cx="16614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Input boxes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2069825" y="908525"/>
            <a:ext cx="408600" cy="2365500"/>
          </a:xfrm>
          <a:prstGeom prst="leftBrace">
            <a:avLst>
              <a:gd fmla="val 50000" name="adj1"/>
              <a:gd fmla="val 49667" name="adj2"/>
            </a:avLst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69" name="Google Shape;169;p29"/>
          <p:cNvCxnSpPr>
            <a:stCxn id="167" idx="3"/>
            <a:endCxn id="168" idx="1"/>
          </p:cNvCxnSpPr>
          <p:nvPr/>
        </p:nvCxnSpPr>
        <p:spPr>
          <a:xfrm>
            <a:off x="1661400" y="1392475"/>
            <a:ext cx="408300" cy="690900"/>
          </a:xfrm>
          <a:prstGeom prst="curvedConnector3">
            <a:avLst>
              <a:gd fmla="val 50015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9"/>
          <p:cNvSpPr/>
          <p:nvPr/>
        </p:nvSpPr>
        <p:spPr>
          <a:xfrm>
            <a:off x="7921925" y="2118100"/>
            <a:ext cx="11610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Buttons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7921925" y="806725"/>
            <a:ext cx="11610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Pills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7921925" y="1479325"/>
            <a:ext cx="11610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Menu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7921925" y="2761550"/>
            <a:ext cx="11610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Toast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187800" y="2507350"/>
            <a:ext cx="1285800" cy="5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Loading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32125" y="3413225"/>
            <a:ext cx="1661400" cy="10815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Spotlight Bottom Navbar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7587625" y="3375875"/>
            <a:ext cx="1495500" cy="10815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Messenger Bottom Navbar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77" name="Google Shape;177;p29"/>
          <p:cNvCxnSpPr>
            <a:stCxn id="174" idx="3"/>
          </p:cNvCxnSpPr>
          <p:nvPr/>
        </p:nvCxnSpPr>
        <p:spPr>
          <a:xfrm>
            <a:off x="1473600" y="2765950"/>
            <a:ext cx="1026900" cy="1008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9"/>
          <p:cNvCxnSpPr>
            <a:stCxn id="175" idx="3"/>
          </p:cNvCxnSpPr>
          <p:nvPr/>
        </p:nvCxnSpPr>
        <p:spPr>
          <a:xfrm>
            <a:off x="1693525" y="3953975"/>
            <a:ext cx="793500" cy="6543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9"/>
          <p:cNvCxnSpPr>
            <a:stCxn id="171" idx="1"/>
          </p:cNvCxnSpPr>
          <p:nvPr/>
        </p:nvCxnSpPr>
        <p:spPr>
          <a:xfrm flipH="1">
            <a:off x="5854025" y="1065325"/>
            <a:ext cx="2067900" cy="36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9"/>
          <p:cNvCxnSpPr>
            <a:stCxn id="170" idx="1"/>
          </p:cNvCxnSpPr>
          <p:nvPr/>
        </p:nvCxnSpPr>
        <p:spPr>
          <a:xfrm flipH="1">
            <a:off x="6349625" y="2376700"/>
            <a:ext cx="1572300" cy="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9"/>
          <p:cNvCxnSpPr>
            <a:stCxn id="170" idx="1"/>
          </p:cNvCxnSpPr>
          <p:nvPr/>
        </p:nvCxnSpPr>
        <p:spPr>
          <a:xfrm rot="10800000">
            <a:off x="5502725" y="1992400"/>
            <a:ext cx="2419200" cy="384300"/>
          </a:xfrm>
          <a:prstGeom prst="curvedConnector3">
            <a:avLst>
              <a:gd fmla="val 70029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9"/>
          <p:cNvCxnSpPr>
            <a:stCxn id="172" idx="1"/>
          </p:cNvCxnSpPr>
          <p:nvPr/>
        </p:nvCxnSpPr>
        <p:spPr>
          <a:xfrm rot="10800000">
            <a:off x="6890825" y="1249225"/>
            <a:ext cx="1031100" cy="488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9"/>
          <p:cNvCxnSpPr>
            <a:stCxn id="173" idx="1"/>
          </p:cNvCxnSpPr>
          <p:nvPr/>
        </p:nvCxnSpPr>
        <p:spPr>
          <a:xfrm rot="10800000">
            <a:off x="6715625" y="2859650"/>
            <a:ext cx="1206300" cy="160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9"/>
          <p:cNvCxnSpPr>
            <a:stCxn id="173" idx="1"/>
          </p:cNvCxnSpPr>
          <p:nvPr/>
        </p:nvCxnSpPr>
        <p:spPr>
          <a:xfrm flipH="1">
            <a:off x="6736025" y="3020150"/>
            <a:ext cx="1185900" cy="4293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9"/>
          <p:cNvCxnSpPr>
            <a:stCxn id="176" idx="1"/>
          </p:cNvCxnSpPr>
          <p:nvPr/>
        </p:nvCxnSpPr>
        <p:spPr>
          <a:xfrm flipH="1">
            <a:off x="6824125" y="3916625"/>
            <a:ext cx="763500" cy="1494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9"/>
          <p:cNvSpPr txBox="1"/>
          <p:nvPr/>
        </p:nvSpPr>
        <p:spPr>
          <a:xfrm>
            <a:off x="2946450" y="2676125"/>
            <a:ext cx="3431700" cy="1990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All follow the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same structure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and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sequence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in both the Spotlight feed and the Messenger module.</a:t>
            </a:r>
            <a:endParaRPr sz="13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Cater to universal usability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7775" y="989850"/>
            <a:ext cx="4457700" cy="28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We considered both </a:t>
            </a:r>
            <a:r>
              <a:rPr lang="en" sz="1600">
                <a:solidFill>
                  <a:srgbClr val="980000"/>
                </a:solidFill>
              </a:rPr>
              <a:t>new and experienced users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Tooltips guide beginners, while the overall layout feels familiar to users who already use other social platforms.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Community helps users of different backgrounds find relevant spaces, supporting inclusive design.</a:t>
            </a:r>
            <a:endParaRPr sz="1600"/>
          </a:p>
        </p:txBody>
      </p:sp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4150" y="857375"/>
            <a:ext cx="3915810" cy="41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/>
          <p:nvPr/>
        </p:nvSpPr>
        <p:spPr>
          <a:xfrm>
            <a:off x="2750375" y="3957100"/>
            <a:ext cx="1895100" cy="1041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Help </a:t>
            </a: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tooltip for beginners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195" name="Google Shape;195;p30"/>
          <p:cNvCxnSpPr>
            <a:stCxn id="194" idx="3"/>
          </p:cNvCxnSpPr>
          <p:nvPr/>
        </p:nvCxnSpPr>
        <p:spPr>
          <a:xfrm flipH="1" rot="10800000">
            <a:off x="4645475" y="3224950"/>
            <a:ext cx="775500" cy="1252800"/>
          </a:xfrm>
          <a:prstGeom prst="curvedConnector2">
            <a:avLst/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0" y="14157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Offer informative feedback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152475"/>
            <a:ext cx="39999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For every </a:t>
            </a:r>
            <a:r>
              <a:rPr lang="en" sz="1900">
                <a:solidFill>
                  <a:srgbClr val="980000"/>
                </a:solidFill>
              </a:rPr>
              <a:t>user action</a:t>
            </a:r>
            <a:r>
              <a:rPr lang="en" sz="1900"/>
              <a:t>, our system provides </a:t>
            </a:r>
            <a:r>
              <a:rPr lang="en" sz="1900">
                <a:solidFill>
                  <a:srgbClr val="980000"/>
                </a:solidFill>
              </a:rPr>
              <a:t>immediate feedback</a:t>
            </a:r>
            <a:r>
              <a:rPr lang="en" sz="1900"/>
              <a:t>.</a:t>
            </a:r>
            <a:endParaRPr sz="1900"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500" y="834925"/>
            <a:ext cx="3929159" cy="412442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/>
          <p:nvPr/>
        </p:nvSpPr>
        <p:spPr>
          <a:xfrm>
            <a:off x="1035050" y="2717875"/>
            <a:ext cx="2749800" cy="978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 gets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loading spinner 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after clicking “Submit.”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04" name="Google Shape;204;p31"/>
          <p:cNvCxnSpPr>
            <a:stCxn id="203" idx="3"/>
          </p:cNvCxnSpPr>
          <p:nvPr/>
        </p:nvCxnSpPr>
        <p:spPr>
          <a:xfrm flipH="1" rot="10800000">
            <a:off x="3784850" y="2736775"/>
            <a:ext cx="1460400" cy="4701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31"/>
          <p:cNvSpPr/>
          <p:nvPr/>
        </p:nvSpPr>
        <p:spPr>
          <a:xfrm>
            <a:off x="1460750" y="3829225"/>
            <a:ext cx="2324100" cy="9780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Immediate, proportional feedback</a:t>
            </a:r>
            <a:endParaRPr sz="19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06" name="Google Shape;206;p31"/>
          <p:cNvCxnSpPr>
            <a:stCxn id="205" idx="3"/>
          </p:cNvCxnSpPr>
          <p:nvPr/>
        </p:nvCxnSpPr>
        <p:spPr>
          <a:xfrm flipH="1" rot="10800000">
            <a:off x="3784850" y="4311625"/>
            <a:ext cx="3384300" cy="6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31"/>
          <p:cNvSpPr/>
          <p:nvPr/>
        </p:nvSpPr>
        <p:spPr>
          <a:xfrm>
            <a:off x="5209650" y="2514775"/>
            <a:ext cx="1599300" cy="36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7117375" y="4095925"/>
            <a:ext cx="1749000" cy="41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dialogues to yield closure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324400" y="866725"/>
            <a:ext cx="81963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Organized interactions to have </a:t>
            </a:r>
            <a:r>
              <a:rPr lang="en" sz="1900">
                <a:solidFill>
                  <a:srgbClr val="980000"/>
                </a:solidFill>
              </a:rPr>
              <a:t>clear beginnings and ends</a:t>
            </a:r>
            <a:r>
              <a:rPr lang="en" sz="1900"/>
              <a:t>.</a:t>
            </a:r>
            <a:endParaRPr sz="1900"/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025" y="1257325"/>
            <a:ext cx="6996875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/>
          <p:nvPr/>
        </p:nvSpPr>
        <p:spPr>
          <a:xfrm>
            <a:off x="7416900" y="1789200"/>
            <a:ext cx="1182600" cy="17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17" name="Google Shape;217;p32"/>
          <p:cNvCxnSpPr>
            <a:stCxn id="218" idx="3"/>
            <a:endCxn id="219" idx="1"/>
          </p:cNvCxnSpPr>
          <p:nvPr/>
        </p:nvCxnSpPr>
        <p:spPr>
          <a:xfrm flipH="1" rot="10800000">
            <a:off x="3473075" y="1877250"/>
            <a:ext cx="430200" cy="609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32"/>
          <p:cNvCxnSpPr>
            <a:stCxn id="219" idx="3"/>
            <a:endCxn id="221" idx="1"/>
          </p:cNvCxnSpPr>
          <p:nvPr/>
        </p:nvCxnSpPr>
        <p:spPr>
          <a:xfrm>
            <a:off x="4750550" y="1877250"/>
            <a:ext cx="1951500" cy="7524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32"/>
          <p:cNvSpPr/>
          <p:nvPr/>
        </p:nvSpPr>
        <p:spPr>
          <a:xfrm>
            <a:off x="3903350" y="1775700"/>
            <a:ext cx="847200" cy="203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2625875" y="2385600"/>
            <a:ext cx="847200" cy="203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6702150" y="2470200"/>
            <a:ext cx="596400" cy="31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22" name="Google Shape;222;p32"/>
          <p:cNvCxnSpPr>
            <a:stCxn id="221" idx="0"/>
            <a:endCxn id="216" idx="1"/>
          </p:cNvCxnSpPr>
          <p:nvPr/>
        </p:nvCxnSpPr>
        <p:spPr>
          <a:xfrm flipH="1" rot="10800000">
            <a:off x="7000350" y="1877100"/>
            <a:ext cx="416700" cy="5931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2"/>
          <p:cNvSpPr/>
          <p:nvPr/>
        </p:nvSpPr>
        <p:spPr>
          <a:xfrm>
            <a:off x="5338450" y="3249575"/>
            <a:ext cx="3021900" cy="1477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AA84F"/>
                </a:solidFill>
                <a:latin typeface="Arial Rounded"/>
                <a:ea typeface="Arial Rounded"/>
                <a:cs typeface="Arial Rounded"/>
                <a:sym typeface="Arial Rounded"/>
              </a:rPr>
              <a:t>Report a post</a:t>
            </a:r>
            <a:r>
              <a:rPr b="1" lang="en" sz="1600">
                <a:solidFill>
                  <a:srgbClr val="6AA84F"/>
                </a:solidFill>
                <a:latin typeface="Arial Rounded"/>
                <a:ea typeface="Arial Rounded"/>
                <a:cs typeface="Arial Rounded"/>
                <a:sym typeface="Arial Rounded"/>
              </a:rPr>
              <a:t> </a:t>
            </a: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closure gives users satisfaction and readiness for their next step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2451" y="768350"/>
            <a:ext cx="1952150" cy="41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3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 errors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299000" y="1152475"/>
            <a:ext cx="3999900" cy="24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1900">
                <a:solidFill>
                  <a:srgbClr val="980000"/>
                </a:solidFill>
              </a:rPr>
              <a:t>Prevent</a:t>
            </a:r>
            <a:r>
              <a:rPr lang="en" sz="1900"/>
              <a:t> and </a:t>
            </a:r>
            <a:r>
              <a:rPr lang="en" sz="1900">
                <a:solidFill>
                  <a:srgbClr val="980000"/>
                </a:solidFill>
              </a:rPr>
              <a:t>handle errors </a:t>
            </a:r>
            <a:r>
              <a:rPr lang="en" sz="1900"/>
              <a:t>through clear messaging.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If a user enters an invalid email during sign-up, a helper text explains what went wrong and how to fix it.</a:t>
            </a:r>
            <a:endParaRPr sz="2000"/>
          </a:p>
        </p:txBody>
      </p:sp>
      <p:sp>
        <p:nvSpPr>
          <p:cNvPr id="231" name="Google Shape;231;p33"/>
          <p:cNvSpPr/>
          <p:nvPr/>
        </p:nvSpPr>
        <p:spPr>
          <a:xfrm>
            <a:off x="4465875" y="1829575"/>
            <a:ext cx="1693500" cy="16320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Help text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could be used as a reasoning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6819900" y="2019300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33" name="Google Shape;233;p33"/>
          <p:cNvCxnSpPr>
            <a:stCxn id="231" idx="3"/>
            <a:endCxn id="232" idx="1"/>
          </p:cNvCxnSpPr>
          <p:nvPr/>
        </p:nvCxnSpPr>
        <p:spPr>
          <a:xfrm flipH="1" rot="10800000">
            <a:off x="6159375" y="2082775"/>
            <a:ext cx="660600" cy="5628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3"/>
          <p:cNvCxnSpPr>
            <a:stCxn id="231" idx="3"/>
            <a:endCxn id="235" idx="1"/>
          </p:cNvCxnSpPr>
          <p:nvPr/>
        </p:nvCxnSpPr>
        <p:spPr>
          <a:xfrm flipH="1" rot="10800000">
            <a:off x="6159375" y="2476675"/>
            <a:ext cx="684300" cy="1689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33"/>
          <p:cNvSpPr/>
          <p:nvPr/>
        </p:nvSpPr>
        <p:spPr>
          <a:xfrm>
            <a:off x="6843775" y="2413075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6843775" y="2806850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6843775" y="3232300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6857950" y="3626000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6857950" y="4019700"/>
            <a:ext cx="1549500" cy="126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40" name="Google Shape;240;p33"/>
          <p:cNvCxnSpPr>
            <a:stCxn id="231" idx="3"/>
            <a:endCxn id="236" idx="1"/>
          </p:cNvCxnSpPr>
          <p:nvPr/>
        </p:nvCxnSpPr>
        <p:spPr>
          <a:xfrm>
            <a:off x="6159375" y="2645575"/>
            <a:ext cx="684300" cy="2247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33"/>
          <p:cNvCxnSpPr>
            <a:stCxn id="231" idx="3"/>
            <a:endCxn id="237" idx="1"/>
          </p:cNvCxnSpPr>
          <p:nvPr/>
        </p:nvCxnSpPr>
        <p:spPr>
          <a:xfrm>
            <a:off x="6159375" y="2645575"/>
            <a:ext cx="684300" cy="6501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33"/>
          <p:cNvCxnSpPr>
            <a:stCxn id="231" idx="3"/>
            <a:endCxn id="238" idx="1"/>
          </p:cNvCxnSpPr>
          <p:nvPr/>
        </p:nvCxnSpPr>
        <p:spPr>
          <a:xfrm>
            <a:off x="6159375" y="2645575"/>
            <a:ext cx="698700" cy="1044000"/>
          </a:xfrm>
          <a:prstGeom prst="curvedConnector3">
            <a:avLst>
              <a:gd fmla="val 49991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33"/>
          <p:cNvCxnSpPr>
            <a:stCxn id="231" idx="3"/>
            <a:endCxn id="239" idx="1"/>
          </p:cNvCxnSpPr>
          <p:nvPr/>
        </p:nvCxnSpPr>
        <p:spPr>
          <a:xfrm>
            <a:off x="6159375" y="2645575"/>
            <a:ext cx="698700" cy="1437600"/>
          </a:xfrm>
          <a:prstGeom prst="curvedConnector3">
            <a:avLst>
              <a:gd fmla="val 49991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 errors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299000" y="919250"/>
            <a:ext cx="3999900" cy="25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Give the user a </a:t>
            </a:r>
            <a:r>
              <a:rPr lang="en" sz="1900">
                <a:solidFill>
                  <a:srgbClr val="980000"/>
                </a:solidFill>
              </a:rPr>
              <a:t>chance to undo actions</a:t>
            </a:r>
            <a:r>
              <a:rPr lang="en" sz="1900"/>
              <a:t> like adding a marker before posting.</a:t>
            </a:r>
            <a:endParaRPr sz="1900"/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850" y="861400"/>
            <a:ext cx="1922207" cy="411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500" y="899500"/>
            <a:ext cx="193366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1565525" y="2463800"/>
            <a:ext cx="3143400" cy="1485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Undo ‘Add Marker’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while modifying picture or video for updates and sending it to others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6369050" y="123190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8407400" y="118745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55" name="Google Shape;255;p34"/>
          <p:cNvCxnSpPr>
            <a:stCxn id="252" idx="3"/>
            <a:endCxn id="253" idx="1"/>
          </p:cNvCxnSpPr>
          <p:nvPr/>
        </p:nvCxnSpPr>
        <p:spPr>
          <a:xfrm flipH="1" rot="10800000">
            <a:off x="4708925" y="1359050"/>
            <a:ext cx="1660200" cy="18477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34"/>
          <p:cNvCxnSpPr>
            <a:stCxn id="252" idx="3"/>
            <a:endCxn id="254" idx="1"/>
          </p:cNvCxnSpPr>
          <p:nvPr/>
        </p:nvCxnSpPr>
        <p:spPr>
          <a:xfrm flipH="1" rot="10800000">
            <a:off x="4708925" y="1314650"/>
            <a:ext cx="3698400" cy="1892100"/>
          </a:xfrm>
          <a:prstGeom prst="curvedConnector3">
            <a:avLst>
              <a:gd fmla="val 50001" name="adj1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Permit easy reversal of actions</a:t>
            </a:r>
            <a:endParaRPr/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295375" y="899325"/>
            <a:ext cx="3999900" cy="18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Allowing reversibility </a:t>
            </a:r>
            <a:r>
              <a:rPr lang="en" sz="1900">
                <a:solidFill>
                  <a:srgbClr val="980000"/>
                </a:solidFill>
              </a:rPr>
              <a:t>reduces anxiety</a:t>
            </a:r>
            <a:r>
              <a:rPr lang="en" sz="1900"/>
              <a:t> and encourages users to </a:t>
            </a:r>
            <a:r>
              <a:rPr lang="en" sz="1900">
                <a:solidFill>
                  <a:srgbClr val="980000"/>
                </a:solidFill>
              </a:rPr>
              <a:t>explore</a:t>
            </a:r>
            <a:r>
              <a:rPr lang="en" sz="1900"/>
              <a:t> features freely.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Undo and Cancel options appear wherever possible.</a:t>
            </a:r>
            <a:endParaRPr sz="1900"/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500" y="899500"/>
            <a:ext cx="193366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5"/>
          <p:cNvSpPr/>
          <p:nvPr/>
        </p:nvSpPr>
        <p:spPr>
          <a:xfrm>
            <a:off x="1955800" y="2952750"/>
            <a:ext cx="2521200" cy="68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Undo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an ‘Added Marker’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65" name="Google Shape;265;p35"/>
          <p:cNvCxnSpPr>
            <a:stCxn id="264" idx="3"/>
            <a:endCxn id="266" idx="1"/>
          </p:cNvCxnSpPr>
          <p:nvPr/>
        </p:nvCxnSpPr>
        <p:spPr>
          <a:xfrm flipH="1" rot="10800000">
            <a:off x="4477000" y="1358850"/>
            <a:ext cx="1892100" cy="19368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6" name="Google Shape;266;p35"/>
          <p:cNvSpPr/>
          <p:nvPr/>
        </p:nvSpPr>
        <p:spPr>
          <a:xfrm>
            <a:off x="6369050" y="123190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67" name="Google Shape;2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1562" y="996700"/>
            <a:ext cx="1870039" cy="401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/>
          <p:nvPr/>
        </p:nvSpPr>
        <p:spPr>
          <a:xfrm>
            <a:off x="7169150" y="1314450"/>
            <a:ext cx="273300" cy="25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2050800" y="3752850"/>
            <a:ext cx="2521200" cy="685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Cancel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or discard a post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70" name="Google Shape;270;p35"/>
          <p:cNvCxnSpPr>
            <a:stCxn id="269" idx="3"/>
            <a:endCxn id="268" idx="2"/>
          </p:cNvCxnSpPr>
          <p:nvPr/>
        </p:nvCxnSpPr>
        <p:spPr>
          <a:xfrm flipH="1" rot="10800000">
            <a:off x="4572000" y="1568550"/>
            <a:ext cx="2733900" cy="2527200"/>
          </a:xfrm>
          <a:prstGeom prst="curvedConnector2">
            <a:avLst/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internal locus of control</a:t>
            </a:r>
            <a:endParaRPr/>
          </a:p>
        </p:txBody>
      </p:sp>
      <p:sp>
        <p:nvSpPr>
          <p:cNvPr id="276" name="Google Shape;276;p36"/>
          <p:cNvSpPr txBox="1"/>
          <p:nvPr>
            <p:ph idx="1" type="body"/>
          </p:nvPr>
        </p:nvSpPr>
        <p:spPr>
          <a:xfrm>
            <a:off x="311700" y="1152475"/>
            <a:ext cx="3999900" cy="14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Our system always lets the </a:t>
            </a:r>
            <a:r>
              <a:rPr lang="en" sz="1900">
                <a:solidFill>
                  <a:srgbClr val="980000"/>
                </a:solidFill>
              </a:rPr>
              <a:t>user take the lead</a:t>
            </a:r>
            <a:r>
              <a:rPr lang="en" sz="1900"/>
              <a:t>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This maintains a sense of </a:t>
            </a:r>
            <a:r>
              <a:rPr lang="en" sz="1900">
                <a:solidFill>
                  <a:srgbClr val="980000"/>
                </a:solidFill>
              </a:rPr>
              <a:t>control and trust</a:t>
            </a:r>
            <a:endParaRPr sz="1900">
              <a:solidFill>
                <a:srgbClr val="980000"/>
              </a:solidFill>
            </a:endParaRPr>
          </a:p>
        </p:txBody>
      </p:sp>
      <p:pic>
        <p:nvPicPr>
          <p:cNvPr id="277" name="Google Shape;277;p36" title="Screenshot 2025-10-19 at 7.42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866700"/>
            <a:ext cx="3897029" cy="41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/>
          <p:nvPr/>
        </p:nvSpPr>
        <p:spPr>
          <a:xfrm>
            <a:off x="1872200" y="2939150"/>
            <a:ext cx="2485800" cy="16983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 initiates</a:t>
            </a: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to delete a notification, </a:t>
            </a: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system </a:t>
            </a: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simply</a:t>
            </a: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 responds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5264150" y="1720850"/>
            <a:ext cx="990600" cy="29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6546850" y="4171950"/>
            <a:ext cx="1727100" cy="374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81" name="Google Shape;281;p36"/>
          <p:cNvCxnSpPr>
            <a:stCxn id="279" idx="3"/>
            <a:endCxn id="280" idx="0"/>
          </p:cNvCxnSpPr>
          <p:nvPr/>
        </p:nvCxnSpPr>
        <p:spPr>
          <a:xfrm>
            <a:off x="6254750" y="1866950"/>
            <a:ext cx="1155600" cy="2304900"/>
          </a:xfrm>
          <a:prstGeom prst="curvedConnector2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6"/>
          <p:cNvCxnSpPr>
            <a:stCxn id="278" idx="3"/>
          </p:cNvCxnSpPr>
          <p:nvPr/>
        </p:nvCxnSpPr>
        <p:spPr>
          <a:xfrm flipH="1" rot="10800000">
            <a:off x="4358000" y="3290300"/>
            <a:ext cx="2916300" cy="498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short-term memory load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51350" y="796875"/>
            <a:ext cx="6765900" cy="15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Designed for </a:t>
            </a:r>
            <a:r>
              <a:rPr lang="en" sz="1900">
                <a:solidFill>
                  <a:srgbClr val="980000"/>
                </a:solidFill>
              </a:rPr>
              <a:t>recognition rather than recall</a:t>
            </a:r>
            <a:endParaRPr sz="1900">
              <a:solidFill>
                <a:srgbClr val="980000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Common icons such as home, search, and create are based on real-life metaphors, so users can understand their meaning instantly.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This keeps interaction intuitive and reduces cognitive load.</a:t>
            </a:r>
            <a:endParaRPr sz="1700"/>
          </a:p>
        </p:txBody>
      </p:sp>
      <p:pic>
        <p:nvPicPr>
          <p:cNvPr id="289" name="Google Shape;2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0" y="3400225"/>
            <a:ext cx="3878751" cy="1433386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37"/>
          <p:cNvSpPr/>
          <p:nvPr/>
        </p:nvSpPr>
        <p:spPr>
          <a:xfrm>
            <a:off x="1498050" y="2424550"/>
            <a:ext cx="2432052" cy="1225530"/>
          </a:xfrm>
          <a:prstGeom prst="irregularSeal1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Real life </a:t>
            </a: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metaphors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91" name="Google Shape;29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9751" y="796875"/>
            <a:ext cx="1984850" cy="42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6879750" y="4025900"/>
            <a:ext cx="2022900" cy="984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293" name="Google Shape;293;p37"/>
          <p:cNvCxnSpPr>
            <a:stCxn id="290" idx="3"/>
            <a:endCxn id="292" idx="1"/>
          </p:cNvCxnSpPr>
          <p:nvPr/>
        </p:nvCxnSpPr>
        <p:spPr>
          <a:xfrm>
            <a:off x="3930102" y="3178591"/>
            <a:ext cx="2949600" cy="1339500"/>
          </a:xfrm>
          <a:prstGeom prst="straightConnector1">
            <a:avLst/>
          </a:prstGeom>
          <a:noFill/>
          <a:ln cap="flat" cmpd="sng" w="38100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7"/>
          <p:cNvSpPr/>
          <p:nvPr/>
        </p:nvSpPr>
        <p:spPr>
          <a:xfrm>
            <a:off x="4737100" y="3543300"/>
            <a:ext cx="1498800" cy="7365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Effective use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the Golden Rules</a:t>
            </a:r>
            <a:endParaRPr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190150" y="1286725"/>
            <a:ext cx="8423100" cy="21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2000"/>
              <a:t>Our design choices </a:t>
            </a:r>
            <a:r>
              <a:rPr lang="en" sz="2000">
                <a:solidFill>
                  <a:srgbClr val="6AA84F"/>
                </a:solidFill>
              </a:rPr>
              <a:t>follow</a:t>
            </a:r>
            <a:r>
              <a:rPr lang="en" sz="2000"/>
              <a:t> Shneiderman’s Golden Rules by keeping interactions </a:t>
            </a:r>
            <a:r>
              <a:rPr lang="en" sz="2000">
                <a:solidFill>
                  <a:srgbClr val="6AA84F"/>
                </a:solidFill>
              </a:rPr>
              <a:t>consistent, inclusive,</a:t>
            </a:r>
            <a:r>
              <a:rPr lang="en" sz="2000"/>
              <a:t> and </a:t>
            </a:r>
            <a:r>
              <a:rPr lang="en" sz="2000">
                <a:solidFill>
                  <a:srgbClr val="6AA84F"/>
                </a:solidFill>
              </a:rPr>
              <a:t>forgiving</a:t>
            </a:r>
            <a:r>
              <a:rPr lang="en" sz="2000"/>
              <a:t>.</a:t>
            </a:r>
            <a:br>
              <a:rPr lang="en" sz="2000"/>
            </a:br>
            <a:endParaRPr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2000"/>
              <a:t>Together, these principles make Spotlight </a:t>
            </a:r>
            <a:r>
              <a:rPr lang="en" sz="2000">
                <a:solidFill>
                  <a:srgbClr val="6AA84F"/>
                </a:solidFill>
              </a:rPr>
              <a:t>easy to learn</a:t>
            </a:r>
            <a:r>
              <a:rPr lang="en" sz="2000"/>
              <a:t>, </a:t>
            </a:r>
            <a:r>
              <a:rPr lang="en" sz="2000">
                <a:solidFill>
                  <a:srgbClr val="6AA84F"/>
                </a:solidFill>
              </a:rPr>
              <a:t>efficient to use</a:t>
            </a:r>
            <a:r>
              <a:rPr lang="en" sz="2000"/>
              <a:t>, and </a:t>
            </a:r>
            <a:r>
              <a:rPr lang="en" sz="2000">
                <a:solidFill>
                  <a:srgbClr val="6AA84F"/>
                </a:solidFill>
              </a:rPr>
              <a:t>pleasant to explore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to Support Usability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Golden Rules of Interface Design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420450" y="1132625"/>
            <a:ext cx="83031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 Rounded"/>
              <a:buChar char="❏"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These principles were introduced by Shneiderman and Dix, and they focus on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what makes a system easy to learn, flexible to use, and reliable over time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.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 Rounded"/>
              <a:buChar char="❏"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They are grouped into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three categories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: Learnability, Flexibility, and Robustness.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 Rounded"/>
              <a:buChar char="❏"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Each of these describes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how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well a system helps users accomplish their goals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efficiently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and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confidently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.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 :Operation Visibility</a:t>
            </a:r>
            <a:endParaRPr/>
          </a:p>
        </p:txBody>
      </p:sp>
      <p:sp>
        <p:nvSpPr>
          <p:cNvPr id="317" name="Google Shape;317;p41"/>
          <p:cNvSpPr txBox="1"/>
          <p:nvPr>
            <p:ph idx="1" type="body"/>
          </p:nvPr>
        </p:nvSpPr>
        <p:spPr>
          <a:xfrm>
            <a:off x="311700" y="1152475"/>
            <a:ext cx="3999900" cy="36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How easily a new user can </a:t>
            </a:r>
            <a:r>
              <a:rPr lang="en" sz="1900">
                <a:solidFill>
                  <a:srgbClr val="980000"/>
                </a:solidFill>
              </a:rPr>
              <a:t>understand</a:t>
            </a:r>
            <a:r>
              <a:rPr lang="en" sz="1900"/>
              <a:t> and start using the system </a:t>
            </a:r>
            <a:r>
              <a:rPr lang="en" sz="1900">
                <a:solidFill>
                  <a:srgbClr val="980000"/>
                </a:solidFill>
              </a:rPr>
              <a:t>effectively</a:t>
            </a:r>
            <a:r>
              <a:rPr lang="en" sz="1900"/>
              <a:t>.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For example, when users click buttons or menus, they always behave in expected ways.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That predictability reduces the mental effort needed to guess what will happen next.</a:t>
            </a:r>
            <a:endParaRPr sz="1700"/>
          </a:p>
        </p:txBody>
      </p:sp>
      <p:pic>
        <p:nvPicPr>
          <p:cNvPr id="318" name="Google Shape;3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950" y="802175"/>
            <a:ext cx="393861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1"/>
          <p:cNvSpPr/>
          <p:nvPr/>
        </p:nvSpPr>
        <p:spPr>
          <a:xfrm>
            <a:off x="5861050" y="2331600"/>
            <a:ext cx="2540100" cy="860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Anticipating available options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20" name="Google Shape;320;p41"/>
          <p:cNvCxnSpPr>
            <a:stCxn id="319" idx="2"/>
          </p:cNvCxnSpPr>
          <p:nvPr/>
        </p:nvCxnSpPr>
        <p:spPr>
          <a:xfrm flipH="1">
            <a:off x="5461000" y="3192000"/>
            <a:ext cx="1670100" cy="9651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41"/>
          <p:cNvCxnSpPr>
            <a:stCxn id="319" idx="2"/>
          </p:cNvCxnSpPr>
          <p:nvPr/>
        </p:nvCxnSpPr>
        <p:spPr>
          <a:xfrm flipH="1">
            <a:off x="5854600" y="3192000"/>
            <a:ext cx="1276500" cy="9525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41"/>
          <p:cNvCxnSpPr>
            <a:stCxn id="319" idx="2"/>
          </p:cNvCxnSpPr>
          <p:nvPr/>
        </p:nvCxnSpPr>
        <p:spPr>
          <a:xfrm flipH="1">
            <a:off x="6242200" y="3192000"/>
            <a:ext cx="888900" cy="9588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41"/>
          <p:cNvCxnSpPr>
            <a:stCxn id="319" idx="2"/>
          </p:cNvCxnSpPr>
          <p:nvPr/>
        </p:nvCxnSpPr>
        <p:spPr>
          <a:xfrm flipH="1">
            <a:off x="6648400" y="3192000"/>
            <a:ext cx="482700" cy="9843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41"/>
          <p:cNvCxnSpPr/>
          <p:nvPr/>
        </p:nvCxnSpPr>
        <p:spPr>
          <a:xfrm flipH="1" rot="10800000">
            <a:off x="8204200" y="1369625"/>
            <a:ext cx="190500" cy="9651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41"/>
          <p:cNvSpPr/>
          <p:nvPr/>
        </p:nvSpPr>
        <p:spPr>
          <a:xfrm>
            <a:off x="6356350" y="1077425"/>
            <a:ext cx="564900" cy="368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26" name="Google Shape;326;p41"/>
          <p:cNvCxnSpPr/>
          <p:nvPr/>
        </p:nvCxnSpPr>
        <p:spPr>
          <a:xfrm rot="10800000">
            <a:off x="5968800" y="1864925"/>
            <a:ext cx="89100" cy="4698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p41"/>
          <p:cNvCxnSpPr/>
          <p:nvPr/>
        </p:nvCxnSpPr>
        <p:spPr>
          <a:xfrm rot="10800000">
            <a:off x="5200800" y="1305925"/>
            <a:ext cx="857100" cy="10161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41"/>
          <p:cNvSpPr/>
          <p:nvPr/>
        </p:nvSpPr>
        <p:spPr>
          <a:xfrm>
            <a:off x="6057900" y="217050"/>
            <a:ext cx="2540106" cy="860382"/>
          </a:xfrm>
          <a:prstGeom prst="irregularSeal1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Predictability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Learnability: Eventual vs Immediate Honesty</a:t>
            </a:r>
            <a:endParaRPr/>
          </a:p>
        </p:txBody>
      </p:sp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50" y="848700"/>
            <a:ext cx="3891721" cy="411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/>
          <p:nvPr/>
        </p:nvSpPr>
        <p:spPr>
          <a:xfrm>
            <a:off x="3771900" y="813950"/>
            <a:ext cx="2540100" cy="1014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Users are logging in to verify the password change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336" name="Google Shape;3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4750" y="848700"/>
            <a:ext cx="1939098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2"/>
          <p:cNvSpPr/>
          <p:nvPr/>
        </p:nvSpPr>
        <p:spPr>
          <a:xfrm>
            <a:off x="4159250" y="2571750"/>
            <a:ext cx="2114700" cy="1014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Turning on notification for a specific user</a:t>
            </a:r>
            <a:endParaRPr sz="20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38" name="Google Shape;338;p42"/>
          <p:cNvCxnSpPr>
            <a:stCxn id="337" idx="3"/>
          </p:cNvCxnSpPr>
          <p:nvPr/>
        </p:nvCxnSpPr>
        <p:spPr>
          <a:xfrm flipH="1" rot="10800000">
            <a:off x="6273950" y="2063700"/>
            <a:ext cx="1130100" cy="10155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42"/>
          <p:cNvCxnSpPr>
            <a:stCxn id="337" idx="3"/>
          </p:cNvCxnSpPr>
          <p:nvPr/>
        </p:nvCxnSpPr>
        <p:spPr>
          <a:xfrm>
            <a:off x="6273950" y="3079200"/>
            <a:ext cx="901500" cy="10611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42"/>
          <p:cNvSpPr/>
          <p:nvPr/>
        </p:nvSpPr>
        <p:spPr>
          <a:xfrm>
            <a:off x="6826250" y="4140300"/>
            <a:ext cx="1727100" cy="4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41" name="Google Shape;341;p42"/>
          <p:cNvSpPr/>
          <p:nvPr/>
        </p:nvSpPr>
        <p:spPr>
          <a:xfrm>
            <a:off x="7404000" y="1943200"/>
            <a:ext cx="1149600" cy="20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374650" y="2514700"/>
            <a:ext cx="1727100" cy="469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2362200" y="2971700"/>
            <a:ext cx="1657500" cy="4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44" name="Google Shape;344;p42"/>
          <p:cNvCxnSpPr>
            <a:stCxn id="335" idx="1"/>
          </p:cNvCxnSpPr>
          <p:nvPr/>
        </p:nvCxnSpPr>
        <p:spPr>
          <a:xfrm flipH="1">
            <a:off x="2101800" y="1321400"/>
            <a:ext cx="1670100" cy="11997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42"/>
          <p:cNvCxnSpPr>
            <a:stCxn id="335" idx="1"/>
          </p:cNvCxnSpPr>
          <p:nvPr/>
        </p:nvCxnSpPr>
        <p:spPr>
          <a:xfrm flipH="1">
            <a:off x="3657600" y="1321400"/>
            <a:ext cx="114300" cy="16377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Learnability: </a:t>
            </a:r>
            <a:r>
              <a:rPr lang="en"/>
              <a:t>Familiarity</a:t>
            </a:r>
            <a:endParaRPr/>
          </a:p>
        </p:txBody>
      </p:sp>
      <p:sp>
        <p:nvSpPr>
          <p:cNvPr id="351" name="Google Shape;351;p43"/>
          <p:cNvSpPr txBox="1"/>
          <p:nvPr/>
        </p:nvSpPr>
        <p:spPr>
          <a:xfrm>
            <a:off x="474375" y="1809375"/>
            <a:ext cx="7224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Affordances and metaphors make it easier for new users to understand what they can do just by looking at the interface.</a:t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950" y="802175"/>
            <a:ext cx="393861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Learnability: Familiarity</a:t>
            </a:r>
            <a:endParaRPr/>
          </a:p>
        </p:txBody>
      </p:sp>
      <p:sp>
        <p:nvSpPr>
          <p:cNvPr id="358" name="Google Shape;358;p44"/>
          <p:cNvSpPr txBox="1"/>
          <p:nvPr/>
        </p:nvSpPr>
        <p:spPr>
          <a:xfrm>
            <a:off x="1307925" y="2527700"/>
            <a:ext cx="3462900" cy="8619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Object’s </a:t>
            </a: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appearance suggests how to use it</a:t>
            </a: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</a:t>
            </a:r>
            <a:endParaRPr sz="22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59" name="Google Shape;359;p44"/>
          <p:cNvCxnSpPr>
            <a:stCxn id="358" idx="3"/>
          </p:cNvCxnSpPr>
          <p:nvPr/>
        </p:nvCxnSpPr>
        <p:spPr>
          <a:xfrm flipH="1" rot="10800000">
            <a:off x="4770825" y="1341650"/>
            <a:ext cx="1714500" cy="16170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44"/>
          <p:cNvCxnSpPr>
            <a:stCxn id="361" idx="3"/>
          </p:cNvCxnSpPr>
          <p:nvPr/>
        </p:nvCxnSpPr>
        <p:spPr>
          <a:xfrm flipH="1" rot="10800000">
            <a:off x="4628450" y="1314400"/>
            <a:ext cx="3768000" cy="2521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1" name="Google Shape;361;p44"/>
          <p:cNvSpPr txBox="1"/>
          <p:nvPr/>
        </p:nvSpPr>
        <p:spPr>
          <a:xfrm>
            <a:off x="1165550" y="3574600"/>
            <a:ext cx="3462900" cy="523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Looks presable</a:t>
            </a:r>
            <a:endParaRPr sz="22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6057900" y="217050"/>
            <a:ext cx="2540106" cy="860382"/>
          </a:xfrm>
          <a:prstGeom prst="irregularSeal1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Affordance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115125" y="832975"/>
            <a:ext cx="465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 Rounded"/>
              <a:buChar char="❏"/>
            </a:pPr>
            <a:r>
              <a:rPr lang="en" sz="18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We rely on real-world metaphors, like the </a:t>
            </a:r>
            <a:r>
              <a:rPr lang="en" sz="18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camera, telephone icon</a:t>
            </a:r>
            <a:r>
              <a:rPr lang="en" sz="18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or a post that looks pressable, so users can apply their existing knowledge.</a:t>
            </a:r>
            <a:endParaRPr sz="18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950" y="802175"/>
            <a:ext cx="3938612" cy="41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5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Learnability: Familiarity</a:t>
            </a:r>
            <a:endParaRPr/>
          </a:p>
        </p:txBody>
      </p:sp>
      <p:sp>
        <p:nvSpPr>
          <p:cNvPr id="370" name="Google Shape;370;p45"/>
          <p:cNvSpPr txBox="1"/>
          <p:nvPr/>
        </p:nvSpPr>
        <p:spPr>
          <a:xfrm>
            <a:off x="325300" y="1362100"/>
            <a:ext cx="3462900" cy="12006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Presenting a digital feature as a known</a:t>
            </a:r>
            <a:endParaRPr sz="22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physical concept.</a:t>
            </a: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 </a:t>
            </a:r>
            <a:endParaRPr sz="22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71" name="Google Shape;371;p45"/>
          <p:cNvCxnSpPr/>
          <p:nvPr/>
        </p:nvCxnSpPr>
        <p:spPr>
          <a:xfrm>
            <a:off x="3788200" y="1793050"/>
            <a:ext cx="1788900" cy="2367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45"/>
          <p:cNvCxnSpPr>
            <a:stCxn id="373" idx="3"/>
          </p:cNvCxnSpPr>
          <p:nvPr/>
        </p:nvCxnSpPr>
        <p:spPr>
          <a:xfrm flipH="1" rot="10800000">
            <a:off x="4628450" y="1314400"/>
            <a:ext cx="3768000" cy="2521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45"/>
          <p:cNvSpPr txBox="1"/>
          <p:nvPr/>
        </p:nvSpPr>
        <p:spPr>
          <a:xfrm>
            <a:off x="1165550" y="3574600"/>
            <a:ext cx="3462900" cy="5232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Looks presable</a:t>
            </a:r>
            <a:endParaRPr sz="2200"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057900" y="217050"/>
            <a:ext cx="2540106" cy="860382"/>
          </a:xfrm>
          <a:prstGeom prst="irregularSeal1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 Rounded"/>
                <a:ea typeface="Arial Rounded"/>
                <a:cs typeface="Arial Rounded"/>
                <a:sym typeface="Arial Rounded"/>
              </a:rPr>
              <a:t>Metaphor/Guessability</a:t>
            </a:r>
            <a:endParaRPr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75" name="Google Shape;375;p45"/>
          <p:cNvCxnSpPr/>
          <p:nvPr/>
        </p:nvCxnSpPr>
        <p:spPr>
          <a:xfrm>
            <a:off x="3794950" y="1809375"/>
            <a:ext cx="2277000" cy="2317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76" name="Google Shape;37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47850"/>
            <a:ext cx="8739151" cy="3204164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7" name="Google Shape;377;p45"/>
          <p:cNvSpPr/>
          <p:nvPr/>
        </p:nvSpPr>
        <p:spPr>
          <a:xfrm>
            <a:off x="2283750" y="2178625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1284125" y="2178625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4072650" y="1314400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6895050" y="1314400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7853875" y="1314400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2" name="Google Shape;382;p45"/>
          <p:cNvSpPr/>
          <p:nvPr/>
        </p:nvSpPr>
        <p:spPr>
          <a:xfrm>
            <a:off x="5146525" y="2178625"/>
            <a:ext cx="7116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3" name="Google Shape;383;p45"/>
          <p:cNvSpPr/>
          <p:nvPr/>
        </p:nvSpPr>
        <p:spPr>
          <a:xfrm>
            <a:off x="6003700" y="2178625"/>
            <a:ext cx="16878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4" name="Google Shape;384;p45"/>
          <p:cNvSpPr/>
          <p:nvPr/>
        </p:nvSpPr>
        <p:spPr>
          <a:xfrm>
            <a:off x="325300" y="3293325"/>
            <a:ext cx="7725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85" name="Google Shape;385;p45"/>
          <p:cNvSpPr/>
          <p:nvPr/>
        </p:nvSpPr>
        <p:spPr>
          <a:xfrm>
            <a:off x="3100275" y="3293325"/>
            <a:ext cx="772500" cy="732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>
            <p:ph type="title"/>
          </p:nvPr>
        </p:nvSpPr>
        <p:spPr>
          <a:xfrm>
            <a:off x="0" y="1490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Learnability: Consistency</a:t>
            </a:r>
            <a:endParaRPr/>
          </a:p>
        </p:txBody>
      </p:sp>
      <p:pic>
        <p:nvPicPr>
          <p:cNvPr id="391" name="Google Shape;3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150" y="826675"/>
            <a:ext cx="4603261" cy="411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6"/>
          <p:cNvSpPr txBox="1"/>
          <p:nvPr/>
        </p:nvSpPr>
        <p:spPr>
          <a:xfrm>
            <a:off x="4380050" y="2571750"/>
            <a:ext cx="4316700" cy="15393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Altogether, these learnability principles make our design </a:t>
            </a: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simple</a:t>
            </a: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</a:t>
            </a: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discoverable</a:t>
            </a: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and </a:t>
            </a:r>
            <a:r>
              <a:rPr lang="en" sz="22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welcoming</a:t>
            </a:r>
            <a:r>
              <a:rPr lang="en" sz="22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to new users</a:t>
            </a:r>
            <a:endParaRPr sz="22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93" name="Google Shape;393;p46"/>
          <p:cNvSpPr txBox="1"/>
          <p:nvPr/>
        </p:nvSpPr>
        <p:spPr>
          <a:xfrm>
            <a:off x="338825" y="921625"/>
            <a:ext cx="3903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 Rounded"/>
              <a:buChar char="❏"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Ensured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consistency across all screens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so once users learn one part of the system, they can easily transfer that knowledge elsewhere.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</a:t>
            </a:r>
            <a:endParaRPr/>
          </a:p>
        </p:txBody>
      </p:sp>
      <p:sp>
        <p:nvSpPr>
          <p:cNvPr id="399" name="Google Shape;399;p47"/>
          <p:cNvSpPr txBox="1"/>
          <p:nvPr>
            <p:ph idx="1" type="body"/>
          </p:nvPr>
        </p:nvSpPr>
        <p:spPr>
          <a:xfrm>
            <a:off x="304925" y="1575750"/>
            <a:ext cx="6939300" cy="199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Describes how users and systems can interact in </a:t>
            </a:r>
            <a:r>
              <a:rPr lang="en" sz="2300">
                <a:solidFill>
                  <a:srgbClr val="980000"/>
                </a:solidFill>
              </a:rPr>
              <a:t>multiple ways</a:t>
            </a:r>
            <a:endParaRPr sz="23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125" y="909451"/>
            <a:ext cx="5287576" cy="367629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Flexibility: User Preemptive Dialog</a:t>
            </a:r>
            <a:endParaRPr/>
          </a:p>
        </p:txBody>
      </p:sp>
      <p:sp>
        <p:nvSpPr>
          <p:cNvPr id="406" name="Google Shape;406;p48"/>
          <p:cNvSpPr txBox="1"/>
          <p:nvPr>
            <p:ph idx="2" type="body"/>
          </p:nvPr>
        </p:nvSpPr>
        <p:spPr>
          <a:xfrm>
            <a:off x="304950" y="2166600"/>
            <a:ext cx="2630400" cy="2143500"/>
          </a:xfrm>
          <a:prstGeom prst="rect">
            <a:avLst/>
          </a:prstGeom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00"/>
              </a:spcAft>
              <a:buNone/>
            </a:pPr>
            <a:r>
              <a:rPr lang="en" sz="1900">
                <a:solidFill>
                  <a:srgbClr val="6AA84F"/>
                </a:solidFill>
              </a:rPr>
              <a:t>User initiates for password reset; system responds with a verification code first.</a:t>
            </a:r>
            <a:endParaRPr sz="1900"/>
          </a:p>
        </p:txBody>
      </p:sp>
      <p:cxnSp>
        <p:nvCxnSpPr>
          <p:cNvPr id="407" name="Google Shape;407;p48"/>
          <p:cNvCxnSpPr>
            <a:stCxn id="406" idx="3"/>
          </p:cNvCxnSpPr>
          <p:nvPr/>
        </p:nvCxnSpPr>
        <p:spPr>
          <a:xfrm flipH="1" rot="10800000">
            <a:off x="2935350" y="2629350"/>
            <a:ext cx="1218900" cy="6090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48"/>
          <p:cNvCxnSpPr>
            <a:stCxn id="406" idx="3"/>
          </p:cNvCxnSpPr>
          <p:nvPr/>
        </p:nvCxnSpPr>
        <p:spPr>
          <a:xfrm flipH="1" rot="10800000">
            <a:off x="2935350" y="2107650"/>
            <a:ext cx="4614000" cy="1130700"/>
          </a:xfrm>
          <a:prstGeom prst="straightConnector1">
            <a:avLst/>
          </a:prstGeom>
          <a:noFill/>
          <a:ln cap="flat" cmpd="sng" w="28575">
            <a:solidFill>
              <a:srgbClr val="0060A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48"/>
          <p:cNvSpPr txBox="1"/>
          <p:nvPr/>
        </p:nvSpPr>
        <p:spPr>
          <a:xfrm>
            <a:off x="203300" y="909450"/>
            <a:ext cx="39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 Rounded"/>
              <a:buChar char="❏"/>
            </a:pP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It is the </a:t>
            </a:r>
            <a:r>
              <a:rPr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communication</a:t>
            </a:r>
            <a:r>
              <a:rPr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taking place between the user and the system.</a:t>
            </a:r>
            <a:endParaRPr sz="19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Flexibility: Concurrent Multi-threading</a:t>
            </a:r>
            <a:endParaRPr/>
          </a:p>
        </p:txBody>
      </p:sp>
      <p:sp>
        <p:nvSpPr>
          <p:cNvPr id="415" name="Google Shape;415;p49"/>
          <p:cNvSpPr txBox="1"/>
          <p:nvPr>
            <p:ph idx="2" type="body"/>
          </p:nvPr>
        </p:nvSpPr>
        <p:spPr>
          <a:xfrm>
            <a:off x="872625" y="785400"/>
            <a:ext cx="3536700" cy="1016100"/>
          </a:xfrm>
          <a:prstGeom prst="rect">
            <a:avLst/>
          </a:prstGeom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00"/>
              </a:spcAft>
              <a:buNone/>
            </a:pPr>
            <a:r>
              <a:rPr lang="en" sz="1900">
                <a:solidFill>
                  <a:srgbClr val="6AA84F"/>
                </a:solidFill>
              </a:rPr>
              <a:t>Typing</a:t>
            </a:r>
            <a:r>
              <a:rPr lang="en" sz="1900"/>
              <a:t> or </a:t>
            </a:r>
            <a:r>
              <a:rPr lang="en" sz="1900">
                <a:solidFill>
                  <a:srgbClr val="6AA84F"/>
                </a:solidFill>
              </a:rPr>
              <a:t>photo/video</a:t>
            </a:r>
            <a:r>
              <a:rPr lang="en" sz="1900"/>
              <a:t> editing while </a:t>
            </a:r>
            <a:r>
              <a:rPr lang="en" sz="1900">
                <a:solidFill>
                  <a:srgbClr val="6AA84F"/>
                </a:solidFill>
              </a:rPr>
              <a:t>listening to music</a:t>
            </a:r>
            <a:r>
              <a:rPr lang="en" sz="1900"/>
              <a:t>.</a:t>
            </a:r>
            <a:endParaRPr sz="1900"/>
          </a:p>
        </p:txBody>
      </p:sp>
      <p:pic>
        <p:nvPicPr>
          <p:cNvPr id="416" name="Google Shape;4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59925"/>
            <a:ext cx="1911198" cy="41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5877" y="785400"/>
            <a:ext cx="1952356" cy="419892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9"/>
          <p:cNvSpPr/>
          <p:nvPr/>
        </p:nvSpPr>
        <p:spPr>
          <a:xfrm>
            <a:off x="4605275" y="3175000"/>
            <a:ext cx="1878000" cy="4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7266000" y="3279975"/>
            <a:ext cx="1332300" cy="1355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420" name="Google Shape;420;p49"/>
          <p:cNvCxnSpPr>
            <a:stCxn id="415" idx="3"/>
          </p:cNvCxnSpPr>
          <p:nvPr/>
        </p:nvCxnSpPr>
        <p:spPr>
          <a:xfrm>
            <a:off x="4409325" y="1293450"/>
            <a:ext cx="327600" cy="18375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49"/>
          <p:cNvCxnSpPr>
            <a:stCxn id="415" idx="3"/>
          </p:cNvCxnSpPr>
          <p:nvPr/>
        </p:nvCxnSpPr>
        <p:spPr>
          <a:xfrm>
            <a:off x="4409325" y="1293450"/>
            <a:ext cx="2841600" cy="19866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2" name="Google Shape;422;p49"/>
          <p:cNvSpPr txBox="1"/>
          <p:nvPr/>
        </p:nvSpPr>
        <p:spPr>
          <a:xfrm>
            <a:off x="237200" y="2127875"/>
            <a:ext cx="3903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Users can perform </a:t>
            </a:r>
            <a:r>
              <a:rPr lang="en" sz="18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different tasks at the same time</a:t>
            </a:r>
            <a:r>
              <a:rPr lang="en" sz="18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, such as editing a post while music plays in the background.</a:t>
            </a:r>
            <a:endParaRPr sz="18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This allows multitasking without losing focus on the main activity.</a:t>
            </a:r>
            <a:endParaRPr sz="18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825" y="796225"/>
            <a:ext cx="4030376" cy="419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0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Flexibility: </a:t>
            </a:r>
            <a:r>
              <a:rPr lang="en"/>
              <a:t>Task migratability</a:t>
            </a:r>
            <a:endParaRPr/>
          </a:p>
        </p:txBody>
      </p:sp>
      <p:sp>
        <p:nvSpPr>
          <p:cNvPr id="429" name="Google Shape;429;p50"/>
          <p:cNvSpPr txBox="1"/>
          <p:nvPr>
            <p:ph idx="2" type="body"/>
          </p:nvPr>
        </p:nvSpPr>
        <p:spPr>
          <a:xfrm>
            <a:off x="1335000" y="1111375"/>
            <a:ext cx="3564600" cy="1416300"/>
          </a:xfrm>
          <a:prstGeom prst="rect">
            <a:avLst/>
          </a:prstGeom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700"/>
              </a:spcAft>
              <a:buNone/>
            </a:pPr>
            <a:r>
              <a:rPr lang="en" sz="1900"/>
              <a:t>User sends message → System receives it →Sends it back to another user</a:t>
            </a:r>
            <a:endParaRPr sz="1900"/>
          </a:p>
        </p:txBody>
      </p:sp>
      <p:sp>
        <p:nvSpPr>
          <p:cNvPr id="430" name="Google Shape;430;p50"/>
          <p:cNvSpPr/>
          <p:nvPr/>
        </p:nvSpPr>
        <p:spPr>
          <a:xfrm>
            <a:off x="7266000" y="4364175"/>
            <a:ext cx="1686000" cy="366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431" name="Google Shape;431;p50"/>
          <p:cNvCxnSpPr>
            <a:stCxn id="429" idx="3"/>
            <a:endCxn id="432" idx="0"/>
          </p:cNvCxnSpPr>
          <p:nvPr/>
        </p:nvCxnSpPr>
        <p:spPr>
          <a:xfrm>
            <a:off x="4899600" y="1819525"/>
            <a:ext cx="644700" cy="13554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50"/>
          <p:cNvCxnSpPr>
            <a:stCxn id="429" idx="3"/>
            <a:endCxn id="430" idx="0"/>
          </p:cNvCxnSpPr>
          <p:nvPr/>
        </p:nvCxnSpPr>
        <p:spPr>
          <a:xfrm>
            <a:off x="4899600" y="1819525"/>
            <a:ext cx="3209400" cy="25446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50"/>
          <p:cNvSpPr/>
          <p:nvPr/>
        </p:nvSpPr>
        <p:spPr>
          <a:xfrm>
            <a:off x="4605275" y="3175000"/>
            <a:ext cx="1878000" cy="4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434" name="Google Shape;434;p50"/>
          <p:cNvSpPr/>
          <p:nvPr/>
        </p:nvSpPr>
        <p:spPr>
          <a:xfrm>
            <a:off x="6162300" y="1795800"/>
            <a:ext cx="2358300" cy="1099200"/>
          </a:xfrm>
          <a:prstGeom prst="cloudCallout">
            <a:avLst>
              <a:gd fmla="val 1148" name="adj1"/>
              <a:gd fmla="val 91182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user←→system</a:t>
            </a:r>
            <a:endParaRPr>
              <a:solidFill>
                <a:srgbClr val="98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435" name="Google Shape;435;p50"/>
          <p:cNvSpPr txBox="1"/>
          <p:nvPr/>
        </p:nvSpPr>
        <p:spPr>
          <a:xfrm>
            <a:off x="182950" y="3002075"/>
            <a:ext cx="39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Arial Rounded"/>
              <a:buChar char="❏"/>
            </a:pPr>
            <a:r>
              <a:rPr b="1"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Transfer of control of a task </a:t>
            </a:r>
            <a:r>
              <a:rPr b="1" lang="en" sz="1900">
                <a:solidFill>
                  <a:srgbClr val="98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efficiently and smoothly</a:t>
            </a:r>
            <a:r>
              <a:rPr b="1" lang="en" sz="1900">
                <a:solidFill>
                  <a:schemeClr val="accent1"/>
                </a:solidFill>
                <a:latin typeface="Arial Rounded"/>
                <a:ea typeface="Arial Rounded"/>
                <a:cs typeface="Arial Rounded"/>
                <a:sym typeface="Arial Rounded"/>
              </a:rPr>
              <a:t> between user ←→system</a:t>
            </a:r>
            <a:endParaRPr sz="17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1"/>
          <p:cNvSpPr txBox="1"/>
          <p:nvPr>
            <p:ph type="title"/>
          </p:nvPr>
        </p:nvSpPr>
        <p:spPr>
          <a:xfrm>
            <a:off x="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</a:t>
            </a:r>
            <a:endParaRPr/>
          </a:p>
        </p:txBody>
      </p:sp>
      <p:sp>
        <p:nvSpPr>
          <p:cNvPr id="441" name="Google Shape;441;p51"/>
          <p:cNvSpPr txBox="1"/>
          <p:nvPr>
            <p:ph idx="1" type="body"/>
          </p:nvPr>
        </p:nvSpPr>
        <p:spPr>
          <a:xfrm>
            <a:off x="304925" y="1575750"/>
            <a:ext cx="6939300" cy="199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2300"/>
              <a:t>Focuses on how </a:t>
            </a:r>
            <a:r>
              <a:rPr lang="en" sz="2300">
                <a:solidFill>
                  <a:srgbClr val="980000"/>
                </a:solidFill>
              </a:rPr>
              <a:t>reliably</a:t>
            </a:r>
            <a:r>
              <a:rPr lang="en" sz="2300"/>
              <a:t> a system helps users achieve their </a:t>
            </a:r>
            <a:r>
              <a:rPr lang="en" sz="2300">
                <a:solidFill>
                  <a:srgbClr val="980000"/>
                </a:solidFill>
              </a:rPr>
              <a:t>goals</a:t>
            </a:r>
            <a:r>
              <a:rPr lang="en" sz="2300"/>
              <a:t> and r</a:t>
            </a:r>
            <a:r>
              <a:rPr lang="en" sz="2300">
                <a:solidFill>
                  <a:srgbClr val="980000"/>
                </a:solidFill>
              </a:rPr>
              <a:t>ecover from errors</a:t>
            </a:r>
            <a:endParaRPr sz="2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"/>
          <p:cNvSpPr txBox="1"/>
          <p:nvPr>
            <p:ph type="title"/>
          </p:nvPr>
        </p:nvSpPr>
        <p:spPr>
          <a:xfrm>
            <a:off x="2286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Robustness: Observability</a:t>
            </a:r>
            <a:endParaRPr/>
          </a:p>
        </p:txBody>
      </p:sp>
      <p:sp>
        <p:nvSpPr>
          <p:cNvPr id="447" name="Google Shape;447;p52"/>
          <p:cNvSpPr txBox="1"/>
          <p:nvPr>
            <p:ph idx="1" type="body"/>
          </p:nvPr>
        </p:nvSpPr>
        <p:spPr>
          <a:xfrm>
            <a:off x="291375" y="1003400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>
                <a:solidFill>
                  <a:srgbClr val="980000"/>
                </a:solidFill>
              </a:rPr>
              <a:t>Degree of support</a:t>
            </a:r>
            <a:r>
              <a:rPr lang="en" sz="1900"/>
              <a:t> provided to the user for determining and achieving goals successfully.</a:t>
            </a:r>
            <a:br>
              <a:rPr lang="en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Here is an example of </a:t>
            </a:r>
            <a:r>
              <a:rPr lang="en" sz="1900">
                <a:solidFill>
                  <a:srgbClr val="980000"/>
                </a:solidFill>
              </a:rPr>
              <a:t>browsability</a:t>
            </a:r>
            <a:r>
              <a:rPr lang="en" sz="1900"/>
              <a:t>. You can see what the system is doing and when it finishes its task as it is clearly displayed for the user to see.</a:t>
            </a:r>
            <a:endParaRPr sz="1900"/>
          </a:p>
        </p:txBody>
      </p:sp>
      <p:pic>
        <p:nvPicPr>
          <p:cNvPr id="448" name="Google Shape;44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250" y="798475"/>
            <a:ext cx="1947633" cy="41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3"/>
          <p:cNvSpPr txBox="1"/>
          <p:nvPr>
            <p:ph type="title"/>
          </p:nvPr>
        </p:nvSpPr>
        <p:spPr>
          <a:xfrm>
            <a:off x="2286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Robustness: Recoverability</a:t>
            </a:r>
            <a:endParaRPr/>
          </a:p>
        </p:txBody>
      </p:sp>
      <p:sp>
        <p:nvSpPr>
          <p:cNvPr id="454" name="Google Shape;454;p53"/>
          <p:cNvSpPr txBox="1"/>
          <p:nvPr>
            <p:ph idx="1" type="body"/>
          </p:nvPr>
        </p:nvSpPr>
        <p:spPr>
          <a:xfrm>
            <a:off x="311700" y="1152475"/>
            <a:ext cx="46692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" sz="2000"/>
              <a:t>Here is an example of </a:t>
            </a:r>
            <a:r>
              <a:rPr lang="en" sz="2000">
                <a:solidFill>
                  <a:srgbClr val="980000"/>
                </a:solidFill>
              </a:rPr>
              <a:t>forward error recovery</a:t>
            </a:r>
            <a:r>
              <a:rPr lang="en" sz="2000"/>
              <a:t>. Each </a:t>
            </a:r>
            <a:r>
              <a:rPr lang="en" sz="2000">
                <a:solidFill>
                  <a:srgbClr val="6AA84F"/>
                </a:solidFill>
              </a:rPr>
              <a:t>input </a:t>
            </a:r>
            <a:r>
              <a:rPr lang="en" sz="2000">
                <a:solidFill>
                  <a:srgbClr val="6AA84F"/>
                </a:solidFill>
              </a:rPr>
              <a:t>field</a:t>
            </a:r>
            <a:r>
              <a:rPr lang="en" sz="2000">
                <a:solidFill>
                  <a:srgbClr val="6AA84F"/>
                </a:solidFill>
              </a:rPr>
              <a:t> has specifications</a:t>
            </a:r>
            <a:r>
              <a:rPr lang="en" sz="2000"/>
              <a:t> in order to tell the user as the system encounters an error with the </a:t>
            </a:r>
            <a:r>
              <a:rPr lang="en" sz="2000"/>
              <a:t>input</a:t>
            </a:r>
            <a:r>
              <a:rPr lang="en" sz="2000"/>
              <a:t>. The </a:t>
            </a:r>
            <a:r>
              <a:rPr lang="en" sz="2000">
                <a:solidFill>
                  <a:srgbClr val="980000"/>
                </a:solidFill>
              </a:rPr>
              <a:t>user is able to directly alter the input according to the prompt</a:t>
            </a:r>
            <a:r>
              <a:rPr lang="en" sz="2000"/>
              <a:t> in order to fix the error.</a:t>
            </a:r>
            <a:endParaRPr sz="2000"/>
          </a:p>
        </p:txBody>
      </p:sp>
      <p:pic>
        <p:nvPicPr>
          <p:cNvPr id="455" name="Google Shape;45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425" y="972750"/>
            <a:ext cx="1833125" cy="39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4"/>
          <p:cNvSpPr txBox="1"/>
          <p:nvPr>
            <p:ph type="title"/>
          </p:nvPr>
        </p:nvSpPr>
        <p:spPr>
          <a:xfrm>
            <a:off x="2286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Robustness: Responsiveness</a:t>
            </a:r>
            <a:endParaRPr/>
          </a:p>
        </p:txBody>
      </p:sp>
      <p:sp>
        <p:nvSpPr>
          <p:cNvPr id="461" name="Google Shape;461;p54"/>
          <p:cNvSpPr txBox="1"/>
          <p:nvPr>
            <p:ph idx="1" type="body"/>
          </p:nvPr>
        </p:nvSpPr>
        <p:spPr>
          <a:xfrm>
            <a:off x="311700" y="1152475"/>
            <a:ext cx="3999900" cy="26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Here is an example of </a:t>
            </a:r>
            <a:r>
              <a:rPr lang="en" sz="1800">
                <a:solidFill>
                  <a:srgbClr val="980000"/>
                </a:solidFill>
              </a:rPr>
              <a:t>instantaneous response</a:t>
            </a:r>
            <a:r>
              <a:rPr lang="en" sz="1800"/>
              <a:t>. When you copy the link to the help article, you </a:t>
            </a:r>
            <a:r>
              <a:rPr lang="en" sz="1800"/>
              <a:t>immediately</a:t>
            </a:r>
            <a:r>
              <a:rPr lang="en" sz="1800"/>
              <a:t> get a pop up that says you have successfully copied the link. This quickly lets the user know their action was successful.</a:t>
            </a:r>
            <a:endParaRPr sz="1800"/>
          </a:p>
        </p:txBody>
      </p:sp>
      <p:pic>
        <p:nvPicPr>
          <p:cNvPr id="462" name="Google Shape;4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650" y="846375"/>
            <a:ext cx="3939655" cy="4124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3" name="Google Shape;463;p54"/>
          <p:cNvCxnSpPr>
            <a:stCxn id="464" idx="2"/>
          </p:cNvCxnSpPr>
          <p:nvPr/>
        </p:nvCxnSpPr>
        <p:spPr>
          <a:xfrm>
            <a:off x="6084975" y="1958325"/>
            <a:ext cx="1064400" cy="24465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4" name="Google Shape;464;p54"/>
          <p:cNvSpPr/>
          <p:nvPr/>
        </p:nvSpPr>
        <p:spPr>
          <a:xfrm>
            <a:off x="5657475" y="1684125"/>
            <a:ext cx="855000" cy="274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6731500" y="4371000"/>
            <a:ext cx="1712400" cy="37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type="title"/>
          </p:nvPr>
        </p:nvSpPr>
        <p:spPr>
          <a:xfrm>
            <a:off x="2286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Robustness: Task Conformance</a:t>
            </a:r>
            <a:endParaRPr/>
          </a:p>
        </p:txBody>
      </p:sp>
      <p:sp>
        <p:nvSpPr>
          <p:cNvPr id="471" name="Google Shape;471;p55"/>
          <p:cNvSpPr txBox="1"/>
          <p:nvPr>
            <p:ph idx="1" type="body"/>
          </p:nvPr>
        </p:nvSpPr>
        <p:spPr>
          <a:xfrm>
            <a:off x="311700" y="1152475"/>
            <a:ext cx="45675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" sz="2000"/>
              <a:t>Here is an example of task completeness in our LightChat </a:t>
            </a:r>
            <a:r>
              <a:rPr lang="en" sz="2000"/>
              <a:t>feature</a:t>
            </a:r>
            <a:r>
              <a:rPr lang="en" sz="2000"/>
              <a:t>. </a:t>
            </a:r>
            <a:r>
              <a:rPr lang="en" sz="2000">
                <a:solidFill>
                  <a:srgbClr val="980000"/>
                </a:solidFill>
              </a:rPr>
              <a:t>The app provides a ton of options for communicating with those that you care about.</a:t>
            </a:r>
            <a:r>
              <a:rPr lang="en" sz="2000"/>
              <a:t> There is a large variety of user tasks that can be mapped by the services we offer.</a:t>
            </a:r>
            <a:endParaRPr sz="2000"/>
          </a:p>
        </p:txBody>
      </p:sp>
      <p:pic>
        <p:nvPicPr>
          <p:cNvPr id="472" name="Google Shape;47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9850" y="846375"/>
            <a:ext cx="2050025" cy="432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type="title"/>
          </p:nvPr>
        </p:nvSpPr>
        <p:spPr>
          <a:xfrm>
            <a:off x="228600" y="141600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Q&amp;A</a:t>
            </a:r>
            <a:endParaRPr/>
          </a:p>
        </p:txBody>
      </p:sp>
      <p:sp>
        <p:nvSpPr>
          <p:cNvPr id="478" name="Google Shape;478;p56"/>
          <p:cNvSpPr txBox="1"/>
          <p:nvPr>
            <p:ph idx="1" type="body"/>
          </p:nvPr>
        </p:nvSpPr>
        <p:spPr>
          <a:xfrm>
            <a:off x="280200" y="942400"/>
            <a:ext cx="8863800" cy="3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Norman’s 7 Principles</a:t>
            </a:r>
            <a:endParaRPr sz="17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Guided our focus on visibility, mapping, and error recovery.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Ensured users understand system behavior through clear signifiers and feedback.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Shneiderman’s 8 Golden Rules</a:t>
            </a:r>
            <a:endParaRPr sz="17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Helped maintain consistency, usability, and control across the app.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Reinforced immediate feedback, reversibility, and intuitive interactions.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/>
              <a:t>Principles Supporting Usability</a:t>
            </a:r>
            <a:endParaRPr sz="17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Learnability: Predictable and familiar interface for first-time users.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Flexibility: Multiple ways to interact and customize experiences.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❏"/>
            </a:pPr>
            <a:r>
              <a:rPr lang="en" sz="1500">
                <a:solidFill>
                  <a:schemeClr val="dk1"/>
                </a:solidFill>
              </a:rPr>
              <a:t>Robustness: Reliable performance, observability, and easy recovery.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479" name="Google Shape;4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963" y="3038463"/>
            <a:ext cx="21050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B8D8E"/>
      </a:lt2>
      <a:accent1>
        <a:srgbClr val="536895"/>
      </a:accent1>
      <a:accent2>
        <a:srgbClr val="616365"/>
      </a:accent2>
      <a:accent3>
        <a:srgbClr val="FFFFFF"/>
      </a:accent3>
      <a:accent4>
        <a:srgbClr val="000000"/>
      </a:accent4>
      <a:accent5>
        <a:srgbClr val="B3B9C8"/>
      </a:accent5>
      <a:accent6>
        <a:srgbClr val="57595B"/>
      </a:accent6>
      <a:hlink>
        <a:srgbClr val="000000"/>
      </a:hlink>
      <a:folHlink>
        <a:srgbClr val="FFC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